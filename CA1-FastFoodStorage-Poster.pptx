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6576000" cy="20574000"/>
  <p:notesSz cx="20574000" cy="365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kramullahMazhar/CA1-FastFoodStorage" TargetMode="External"/><Relationship Id="rId7" Type="http://schemas.openxmlformats.org/officeDocument/2006/relationships/hyperlink" Target="https://github.com/IkramullahMazhar/CA1-FastFoodStorage/commits/main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jp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2880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Food Party Storage: Stack and Queue in one circular deque</a:t>
            </a:r>
            <a:endParaRPr lang="en-US" sz="5400" dirty="0"/>
          </a:p>
        </p:txBody>
      </p:sp>
      <p:pic>
        <p:nvPicPr>
          <p:cNvPr id="3" name="Image 0" descr="/tmp/claude-0/-home-claude/7278676b-60c4-5b52-8edb-7a79bad1d600/scratchpad/poster/ex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0" y="502920"/>
            <a:ext cx="5669280" cy="10844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691640"/>
            <a:ext cx="3511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CA1 Algorithms and Constructs  |  Lecturer: Taufique Ahmed  |  Group: </a:t>
            </a:r>
            <a:pPr indent="0" marL="0">
              <a:buNone/>
            </a:pPr>
            <a:r>
              <a:rPr lang="en-US" sz="2100" b="1" dirty="0">
                <a:solidFill>
                  <a:srgbClr val="B3122B"/>
                </a:solidFill>
              </a:rPr>
              <a:t>Ikramullah Mazhar (2024476)</a:t>
            </a:r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  ·  </a:t>
            </a:r>
            <a:pPr indent="0" marL="0">
              <a:buNone/>
            </a:pPr>
            <a:r>
              <a:rPr lang="en-US" sz="2100" b="1" dirty="0">
                <a:solidFill>
                  <a:srgbClr val="9A6A00"/>
                </a:solidFill>
              </a:rPr>
              <a:t>Shahzaib Hassan (2024669)</a:t>
            </a:r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  ·  </a:t>
            </a:r>
            <a:pPr indent="0" marL="0">
              <a:buNone/>
            </a:pPr>
            <a:r>
              <a:rPr lang="en-US" sz="2100" b="1" dirty="0">
                <a:solidFill>
                  <a:srgbClr val="0F7A6C"/>
                </a:solidFill>
              </a:rPr>
              <a:t>Majid Nawaz (2024473)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286000"/>
            <a:ext cx="3511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GitHub repository: </a:t>
            </a:r>
            <a:pPr indent="0" marL="0">
              <a:buNone/>
            </a:pPr>
            <a:r>
              <a:rPr lang="en-US" sz="21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https://github.com/IkramullahMazhar/CA1-FastFoodStorage</a:t>
            </a:r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        Video presentation: </a:t>
            </a:r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&lt;paste Google Drive link&gt;</a:t>
            </a:r>
            <a:endParaRPr lang="en-US" sz="2100" dirty="0"/>
          </a:p>
        </p:txBody>
      </p:sp>
      <p:sp>
        <p:nvSpPr>
          <p:cNvPr id="6" name="Card 1"/>
          <p:cNvSpPr/>
          <p:nvPr/>
        </p:nvSpPr>
        <p:spPr>
          <a:xfrm>
            <a:off x="731520" y="3429000"/>
            <a:ext cx="8366760" cy="7452360"/>
          </a:xfrm>
          <a:prstGeom prst="roundRect">
            <a:avLst>
              <a:gd name="adj" fmla="val 1840"/>
            </a:avLst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61188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7223760" y="373075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B312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373075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Ikramullah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434840"/>
            <a:ext cx="7818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Party food (Burger, Pizza, Fries, Sandwich, Hotdog) is kept in a unit with 8 trays and two sides. The chef always adds at the front, then removes from the front or the back. Each item stores its name, weight, best-before date (max 14 days) and time stored.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617220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Stack mode: add and remove at the FRONT (LIFO)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6656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394192" y="6656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BACK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920240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0C4DE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20240" y="7040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Hotdog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24912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C6E8BA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24912" y="7040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Sandwich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529584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09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29584" y="7040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Fries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34256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B3A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34256" y="7040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Pizza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138928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D699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38928" y="7040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Burger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0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6748272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7552944" y="704088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1051560" y="7242048"/>
            <a:ext cx="777240" cy="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1051560" y="6995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in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 flipH="1">
            <a:off x="1051560" y="7662672"/>
            <a:ext cx="77724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1051560" y="7726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</a:rPr>
              <a:t>out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813816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Queue mode: add at FRONT, remove at BACK (FIFO)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1005840" y="8622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394192" y="8622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BACK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920240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2724912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3529584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4334256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0C4DE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334256" y="9006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Hotdog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138928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C6E8BA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138928" y="9006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Sandwich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43600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F09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0" y="9006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Fries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748272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B3A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748272" y="9006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Pizza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552944" y="900684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FFD699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552944" y="9006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Burger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51560" y="9208008"/>
            <a:ext cx="777240" cy="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1051560" y="8961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in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357616" y="9628632"/>
            <a:ext cx="429768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50" name="Text 47"/>
          <p:cNvSpPr txBox="1"/>
          <p:nvPr/>
        </p:nvSpPr>
        <p:spPr>
          <a:xfrm>
            <a:off x="8357616" y="9692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</a:rPr>
              <a:t>out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05840" y="1019556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Red outline = next item out</a:t>
            </a:r>
            <a:endParaRPr lang="en-US" sz="1300" dirty="0"/>
          </a:p>
        </p:txBody>
      </p:sp>
      <p:sp>
        <p:nvSpPr>
          <p:cNvPr id="52" name="Card 2"/>
          <p:cNvSpPr/>
          <p:nvPr/>
        </p:nvSpPr>
        <p:spPr>
          <a:xfrm>
            <a:off x="731520" y="11247120"/>
            <a:ext cx="8366760" cy="2926080"/>
          </a:xfrm>
          <a:prstGeom prst="roundRect">
            <a:avLst>
              <a:gd name="adj" fmla="val 4688"/>
            </a:avLst>
          </a:prstGeom>
          <a:solidFill>
            <a:schemeClr val="accent5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05840" y="1143000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circular deque?</a:t>
            </a:r>
            <a:endParaRPr lang="en-US" sz="2700" dirty="0"/>
          </a:p>
        </p:txBody>
      </p:sp>
      <p:sp>
        <p:nvSpPr>
          <p:cNvPr id="54" name="Shape 51"/>
          <p:cNvSpPr/>
          <p:nvPr/>
        </p:nvSpPr>
        <p:spPr>
          <a:xfrm>
            <a:off x="7223760" y="1154887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B3122B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7223760" y="1154887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Ikramullah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1005840" y="12252960"/>
            <a:ext cx="7818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 stack or a queue alone covers only one of the chef's two methods. A double-ended queue (deque) gives O(1) access at both ends, so one structure handles both. A fixed array of 8 matches the real unit: no resizing, and full means size == 8. We wrote our own because java.util.ArrayDeque grows without limit.</a:t>
            </a:r>
            <a:endParaRPr lang="en-US" sz="1900" dirty="0"/>
          </a:p>
        </p:txBody>
      </p:sp>
      <p:sp>
        <p:nvSpPr>
          <p:cNvPr id="57" name="Card 3"/>
          <p:cNvSpPr/>
          <p:nvPr/>
        </p:nvSpPr>
        <p:spPr>
          <a:xfrm>
            <a:off x="731520" y="14538960"/>
            <a:ext cx="8366760" cy="548640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1005840" y="1472184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</a:t>
            </a:r>
            <a:endParaRPr lang="en-US" sz="2700" dirty="0"/>
          </a:p>
        </p:txBody>
      </p:sp>
      <p:sp>
        <p:nvSpPr>
          <p:cNvPr id="59" name="Shape 56"/>
          <p:cNvSpPr/>
          <p:nvPr/>
        </p:nvSpPr>
        <p:spPr>
          <a:xfrm>
            <a:off x="7223760" y="1484071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B3122B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223760" y="1484071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Ikramullah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5544800"/>
          <a:ext cx="7818120" cy="914400"/>
        </p:xfrm>
        <a:graphic>
          <a:graphicData uri="http://schemas.openxmlformats.org/drawingml/2006/table">
            <a:tbl>
              <a:tblPr/>
              <a:tblGrid>
                <a:gridCol w="5863590"/>
                <a:gridCol w="195453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add() at front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remove(): stack or queue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peek(): top 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toList(): display 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search(): name, weight, 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isFull() / isEmpty()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Text 58"/>
          <p:cNvSpPr txBox="1"/>
          <p:nvPr/>
        </p:nvSpPr>
        <p:spPr>
          <a:xfrm>
            <a:off x="1005840" y="1897380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2"/>
                </a:solidFill>
              </a:rPr>
              <a:t>n ≤ 8, so linear search is effectively instant.</a:t>
            </a:r>
            <a:endParaRPr lang="en-US" sz="1600" dirty="0"/>
          </a:p>
        </p:txBody>
      </p:sp>
      <p:sp>
        <p:nvSpPr>
          <p:cNvPr id="63" name="Card 4"/>
          <p:cNvSpPr/>
          <p:nvPr/>
        </p:nvSpPr>
        <p:spPr>
          <a:xfrm>
            <a:off x="9646920" y="3429000"/>
            <a:ext cx="8366760" cy="7223760"/>
          </a:xfrm>
          <a:prstGeom prst="roundRect">
            <a:avLst>
              <a:gd name="adj" fmla="val 1899"/>
            </a:avLst>
          </a:prstGeom>
          <a:solidFill>
            <a:schemeClr val="accent5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9921240" y="361188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circular array works</a:t>
            </a:r>
            <a:endParaRPr lang="en-US" sz="2700" dirty="0"/>
          </a:p>
        </p:txBody>
      </p:sp>
      <p:sp>
        <p:nvSpPr>
          <p:cNvPr id="65" name="Shape 61"/>
          <p:cNvSpPr/>
          <p:nvPr/>
        </p:nvSpPr>
        <p:spPr>
          <a:xfrm>
            <a:off x="16139160" y="373075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B3122B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16139160" y="373075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Ikramullah</a:t>
            </a:r>
            <a:endParaRPr lang="en-US" sz="1400" dirty="0"/>
          </a:p>
        </p:txBody>
      </p:sp>
      <p:sp>
        <p:nvSpPr>
          <p:cNvPr id="67" name="Text 63"/>
          <p:cNvSpPr txBox="1"/>
          <p:nvPr/>
        </p:nvSpPr>
        <p:spPr>
          <a:xfrm>
            <a:off x="9921240" y="4434840"/>
            <a:ext cx="7818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Item i is stored at (front + i) % 8 and the back item at (front + size − 1) % 8. Adding moves front back one slot, wrapping from 0 to 7, so nothing is ever shifted.</a:t>
            </a:r>
            <a:endParaRPr lang="en-US" sz="1900" dirty="0"/>
          </a:p>
        </p:txBody>
      </p:sp>
      <p:sp>
        <p:nvSpPr>
          <p:cNvPr id="68" name="Shape 64"/>
          <p:cNvSpPr/>
          <p:nvPr/>
        </p:nvSpPr>
        <p:spPr>
          <a:xfrm>
            <a:off x="10145268" y="6675120"/>
            <a:ext cx="841248" cy="731520"/>
          </a:xfrm>
          <a:prstGeom prst="rect">
            <a:avLst/>
          </a:prstGeom>
          <a:solidFill>
            <a:srgbClr val="FFF09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10145268" y="667512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Fries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10145268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11077956" y="6675120"/>
            <a:ext cx="841248" cy="731520"/>
          </a:xfrm>
          <a:prstGeom prst="rect">
            <a:avLst/>
          </a:prstGeom>
          <a:solidFill>
            <a:srgbClr val="FFB3A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11077956" y="667512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Pizza</a:t>
            </a:r>
            <a:endParaRPr lang="en-US" sz="1000" dirty="0"/>
          </a:p>
        </p:txBody>
      </p:sp>
      <p:sp>
        <p:nvSpPr>
          <p:cNvPr id="73" name="Text 69"/>
          <p:cNvSpPr txBox="1"/>
          <p:nvPr/>
        </p:nvSpPr>
        <p:spPr>
          <a:xfrm>
            <a:off x="11077956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74" name="Shape 70"/>
          <p:cNvSpPr/>
          <p:nvPr/>
        </p:nvSpPr>
        <p:spPr>
          <a:xfrm>
            <a:off x="12010644" y="6675120"/>
            <a:ext cx="84124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12010644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76" name="Shape 72"/>
          <p:cNvSpPr/>
          <p:nvPr/>
        </p:nvSpPr>
        <p:spPr>
          <a:xfrm>
            <a:off x="12943332" y="6675120"/>
            <a:ext cx="84124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12943332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78" name="Shape 74"/>
          <p:cNvSpPr/>
          <p:nvPr/>
        </p:nvSpPr>
        <p:spPr>
          <a:xfrm>
            <a:off x="13876020" y="6675120"/>
            <a:ext cx="84124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13876020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80" name="Shape 76"/>
          <p:cNvSpPr/>
          <p:nvPr/>
        </p:nvSpPr>
        <p:spPr>
          <a:xfrm>
            <a:off x="14808708" y="6675120"/>
            <a:ext cx="84124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14808708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82" name="Shape 78"/>
          <p:cNvSpPr/>
          <p:nvPr/>
        </p:nvSpPr>
        <p:spPr>
          <a:xfrm>
            <a:off x="15741396" y="6675120"/>
            <a:ext cx="841248" cy="731520"/>
          </a:xfrm>
          <a:prstGeom prst="rect">
            <a:avLst/>
          </a:prstGeom>
          <a:solidFill>
            <a:srgbClr val="F0C4DE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15741396" y="667512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Hotdog</a:t>
            </a:r>
            <a:endParaRPr lang="en-US" sz="1000" dirty="0"/>
          </a:p>
        </p:txBody>
      </p:sp>
      <p:sp>
        <p:nvSpPr>
          <p:cNvPr id="84" name="Text 80"/>
          <p:cNvSpPr txBox="1"/>
          <p:nvPr/>
        </p:nvSpPr>
        <p:spPr>
          <a:xfrm>
            <a:off x="15741396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85" name="Shape 81"/>
          <p:cNvSpPr/>
          <p:nvPr/>
        </p:nvSpPr>
        <p:spPr>
          <a:xfrm>
            <a:off x="16674084" y="6675120"/>
            <a:ext cx="841248" cy="731520"/>
          </a:xfrm>
          <a:prstGeom prst="rect">
            <a:avLst/>
          </a:prstGeom>
          <a:solidFill>
            <a:srgbClr val="C6E8BA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16674084" y="667512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Sandwich</a:t>
            </a:r>
            <a:endParaRPr lang="en-US" sz="1000" dirty="0"/>
          </a:p>
        </p:txBody>
      </p:sp>
      <p:sp>
        <p:nvSpPr>
          <p:cNvPr id="87" name="Text 83"/>
          <p:cNvSpPr txBox="1"/>
          <p:nvPr/>
        </p:nvSpPr>
        <p:spPr>
          <a:xfrm>
            <a:off x="16674084" y="74523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</a:t>
            </a:r>
            <a:endParaRPr lang="en-US" sz="1200" dirty="0"/>
          </a:p>
        </p:txBody>
      </p:sp>
      <p:sp>
        <p:nvSpPr>
          <p:cNvPr id="88" name="Shape 84"/>
          <p:cNvSpPr/>
          <p:nvPr/>
        </p:nvSpPr>
        <p:spPr>
          <a:xfrm>
            <a:off x="16162020" y="6217920"/>
            <a:ext cx="0" cy="41148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89" name="Text 85"/>
          <p:cNvSpPr txBox="1"/>
          <p:nvPr/>
        </p:nvSpPr>
        <p:spPr>
          <a:xfrm>
            <a:off x="15247620" y="58978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</a:rPr>
              <a:t>front = 6</a:t>
            </a:r>
            <a:endParaRPr lang="en-US" sz="1300" dirty="0"/>
          </a:p>
        </p:txBody>
      </p:sp>
      <p:sp>
        <p:nvSpPr>
          <p:cNvPr id="90" name="Shape 86"/>
          <p:cNvSpPr/>
          <p:nvPr/>
        </p:nvSpPr>
        <p:spPr>
          <a:xfrm>
            <a:off x="11498580" y="6217920"/>
            <a:ext cx="0" cy="41148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91" name="Text 87"/>
          <p:cNvSpPr txBox="1"/>
          <p:nvPr/>
        </p:nvSpPr>
        <p:spPr>
          <a:xfrm>
            <a:off x="10218420" y="589788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back = (6+4−1) % 8 = 1</a:t>
            </a:r>
            <a:endParaRPr lang="en-US" sz="1300" dirty="0"/>
          </a:p>
        </p:txBody>
      </p:sp>
      <p:sp>
        <p:nvSpPr>
          <p:cNvPr id="92" name="Text 88"/>
          <p:cNvSpPr txBox="1"/>
          <p:nvPr/>
        </p:nvSpPr>
        <p:spPr>
          <a:xfrm>
            <a:off x="9921240" y="7772400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Array indexes: size = 4, wrapping past index 7</a:t>
            </a:r>
            <a:endParaRPr lang="en-US" sz="1300" dirty="0"/>
          </a:p>
        </p:txBody>
      </p:sp>
      <p:sp>
        <p:nvSpPr>
          <p:cNvPr id="93" name="Shape 89"/>
          <p:cNvSpPr/>
          <p:nvPr/>
        </p:nvSpPr>
        <p:spPr>
          <a:xfrm>
            <a:off x="9921240" y="8321040"/>
            <a:ext cx="7818120" cy="2011680"/>
          </a:xfrm>
          <a:prstGeom prst="roundRect">
            <a:avLst>
              <a:gd name="adj" fmla="val 3636"/>
            </a:avLst>
          </a:prstGeom>
          <a:solidFill>
            <a:srgbClr val="263238"/>
          </a:solidFill>
          <a:ln/>
        </p:spPr>
      </p:sp>
      <p:sp>
        <p:nvSpPr>
          <p:cNvPr id="94" name="Text 90"/>
          <p:cNvSpPr txBox="1"/>
          <p:nvPr/>
        </p:nvSpPr>
        <p:spPr>
          <a:xfrm>
            <a:off x="10104120" y="8503920"/>
            <a:ext cx="7452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addFront(T item) throws StorageFullException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(isFull()) throw new StorageFullException(capacity());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 = (front - 1 + trays.length) % trays.length;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trays[front] = item;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size++;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5" name="Card 5"/>
          <p:cNvSpPr/>
          <p:nvPr/>
        </p:nvSpPr>
        <p:spPr>
          <a:xfrm>
            <a:off x="9646920" y="11018520"/>
            <a:ext cx="8366760" cy="9006840"/>
          </a:xfrm>
          <a:prstGeom prst="roundRect">
            <a:avLst>
              <a:gd name="adj" fmla="val 1639"/>
            </a:avLst>
          </a:prstGeom>
          <a:solidFill>
            <a:schemeClr val="accent5"/>
          </a:solidFill>
          <a:ln/>
        </p:spPr>
      </p:sp>
      <p:sp>
        <p:nvSpPr>
          <p:cNvPr id="96" name="Text 92"/>
          <p:cNvSpPr txBox="1"/>
          <p:nvPr/>
        </p:nvSpPr>
        <p:spPr>
          <a:xfrm>
            <a:off x="9921240" y="1120140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design</a:t>
            </a:r>
            <a:endParaRPr lang="en-US" sz="2700" dirty="0"/>
          </a:p>
        </p:txBody>
      </p:sp>
      <p:sp>
        <p:nvSpPr>
          <p:cNvPr id="97" name="Shape 93"/>
          <p:cNvSpPr/>
          <p:nvPr/>
        </p:nvSpPr>
        <p:spPr>
          <a:xfrm>
            <a:off x="16139160" y="1132027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9A6A00"/>
          </a:solidFill>
          <a:ln/>
        </p:spPr>
      </p:sp>
      <p:sp>
        <p:nvSpPr>
          <p:cNvPr id="98" name="Text 94"/>
          <p:cNvSpPr txBox="1"/>
          <p:nvPr/>
        </p:nvSpPr>
        <p:spPr>
          <a:xfrm>
            <a:off x="16139160" y="1132027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Shahzaib</a:t>
            </a:r>
            <a:endParaRPr lang="en-US" sz="1400" dirty="0"/>
          </a:p>
        </p:txBody>
      </p:sp>
      <p:sp>
        <p:nvSpPr>
          <p:cNvPr id="99" name="Shape 95"/>
          <p:cNvSpPr/>
          <p:nvPr/>
        </p:nvSpPr>
        <p:spPr>
          <a:xfrm>
            <a:off x="11990070" y="12070080"/>
            <a:ext cx="36804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11990070" y="12070080"/>
            <a:ext cx="3680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MainFrame + TrayPanel (Swing UI)</a:t>
            </a:r>
            <a:endParaRPr lang="en-US" sz="1400" dirty="0"/>
          </a:p>
        </p:txBody>
      </p:sp>
      <p:sp>
        <p:nvSpPr>
          <p:cNvPr id="101" name="Shape 97"/>
          <p:cNvSpPr/>
          <p:nvPr/>
        </p:nvSpPr>
        <p:spPr>
          <a:xfrm>
            <a:off x="13830300" y="12728448"/>
            <a:ext cx="0" cy="365760"/>
          </a:xfrm>
          <a:prstGeom prst="line">
            <a:avLst/>
          </a:prstGeom>
          <a:noFill/>
          <a:ln w="317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02" name="Shape 98"/>
          <p:cNvSpPr/>
          <p:nvPr/>
        </p:nvSpPr>
        <p:spPr>
          <a:xfrm>
            <a:off x="9921240" y="13112496"/>
            <a:ext cx="36804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9921240" y="13112496"/>
            <a:ext cx="3680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StorageManager</a:t>
            </a:r>
            <a:endParaRPr lang="en-US" sz="1400" dirty="0"/>
          </a:p>
        </p:txBody>
      </p:sp>
      <p:sp>
        <p:nvSpPr>
          <p:cNvPr id="104" name="Shape 100"/>
          <p:cNvSpPr/>
          <p:nvPr/>
        </p:nvSpPr>
        <p:spPr>
          <a:xfrm>
            <a:off x="14058900" y="13112496"/>
            <a:ext cx="36804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14058900" y="13112496"/>
            <a:ext cx="3680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FoodValidator</a:t>
            </a:r>
            <a:endParaRPr lang="en-US" sz="1400" dirty="0"/>
          </a:p>
        </p:txBody>
      </p:sp>
      <p:sp>
        <p:nvSpPr>
          <p:cNvPr id="106" name="Shape 102"/>
          <p:cNvSpPr/>
          <p:nvPr/>
        </p:nvSpPr>
        <p:spPr>
          <a:xfrm>
            <a:off x="13601700" y="13441680"/>
            <a:ext cx="438912" cy="0"/>
          </a:xfrm>
          <a:prstGeom prst="line">
            <a:avLst/>
          </a:prstGeom>
          <a:noFill/>
          <a:ln w="317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07" name="Shape 103"/>
          <p:cNvSpPr/>
          <p:nvPr/>
        </p:nvSpPr>
        <p:spPr>
          <a:xfrm>
            <a:off x="11761470" y="13770864"/>
            <a:ext cx="0" cy="365760"/>
          </a:xfrm>
          <a:prstGeom prst="line">
            <a:avLst/>
          </a:prstGeom>
          <a:noFill/>
          <a:ln w="317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08" name="Shape 104"/>
          <p:cNvSpPr/>
          <p:nvPr/>
        </p:nvSpPr>
        <p:spPr>
          <a:xfrm>
            <a:off x="13327380" y="13770864"/>
            <a:ext cx="2571750" cy="365760"/>
          </a:xfrm>
          <a:prstGeom prst="line">
            <a:avLst/>
          </a:prstGeom>
          <a:noFill/>
          <a:ln w="317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09" name="Shape 105"/>
          <p:cNvSpPr/>
          <p:nvPr/>
        </p:nvSpPr>
        <p:spPr>
          <a:xfrm>
            <a:off x="9921240" y="14154912"/>
            <a:ext cx="3680460" cy="658368"/>
          </a:xfrm>
          <a:prstGeom prst="roundRect">
            <a:avLst>
              <a:gd name="adj" fmla="val 8333"/>
            </a:avLst>
          </a:prstGeom>
          <a:solidFill>
            <a:srgbClr val="FFF6D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10" name="Text 106"/>
          <p:cNvSpPr txBox="1"/>
          <p:nvPr/>
        </p:nvSpPr>
        <p:spPr>
          <a:xfrm>
            <a:off x="9921240" y="14154912"/>
            <a:ext cx="3680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«interface» FoodStorage&lt;T&gt;</a:t>
            </a:r>
            <a:endParaRPr lang="en-US" sz="1400" dirty="0"/>
          </a:p>
        </p:txBody>
      </p:sp>
      <p:sp>
        <p:nvSpPr>
          <p:cNvPr id="111" name="Shape 107"/>
          <p:cNvSpPr/>
          <p:nvPr/>
        </p:nvSpPr>
        <p:spPr>
          <a:xfrm>
            <a:off x="14058900" y="14154912"/>
            <a:ext cx="3680460" cy="658368"/>
          </a:xfrm>
          <a:prstGeom prst="roundRect">
            <a:avLst>
              <a:gd name="adj" fmla="val 8333"/>
            </a:avLst>
          </a:prstGeom>
          <a:solidFill>
            <a:srgbClr val="FFF6D6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14058900" y="14154912"/>
            <a:ext cx="3680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«abstract» FoodItem</a:t>
            </a:r>
            <a:endParaRPr lang="en-US" sz="1400" dirty="0"/>
          </a:p>
        </p:txBody>
      </p:sp>
      <p:sp>
        <p:nvSpPr>
          <p:cNvPr id="113" name="Shape 109"/>
          <p:cNvSpPr/>
          <p:nvPr/>
        </p:nvSpPr>
        <p:spPr>
          <a:xfrm flipV="1">
            <a:off x="11761470" y="14813280"/>
            <a:ext cx="0" cy="365760"/>
          </a:xfrm>
          <a:prstGeom prst="line">
            <a:avLst/>
          </a:prstGeom>
          <a:noFill/>
          <a:ln w="31750">
            <a:solidFill>
              <a:srgbClr val="5B6573"/>
            </a:solidFill>
            <a:prstDash val="dash"/>
            <a:tailEnd type="triangle"/>
          </a:ln>
        </p:spPr>
      </p:sp>
      <p:sp>
        <p:nvSpPr>
          <p:cNvPr id="114" name="Shape 110"/>
          <p:cNvSpPr/>
          <p:nvPr/>
        </p:nvSpPr>
        <p:spPr>
          <a:xfrm flipV="1">
            <a:off x="15899130" y="14813280"/>
            <a:ext cx="0" cy="365760"/>
          </a:xfrm>
          <a:prstGeom prst="line">
            <a:avLst/>
          </a:prstGeom>
          <a:noFill/>
          <a:ln w="3175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15" name="Text 111"/>
          <p:cNvSpPr txBox="1"/>
          <p:nvPr/>
        </p:nvSpPr>
        <p:spPr>
          <a:xfrm>
            <a:off x="11852910" y="1483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implements</a:t>
            </a:r>
            <a:endParaRPr lang="en-US" sz="1100" dirty="0"/>
          </a:p>
        </p:txBody>
      </p:sp>
      <p:sp>
        <p:nvSpPr>
          <p:cNvPr id="116" name="Text 112"/>
          <p:cNvSpPr txBox="1"/>
          <p:nvPr/>
        </p:nvSpPr>
        <p:spPr>
          <a:xfrm>
            <a:off x="15990570" y="1483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extends</a:t>
            </a:r>
            <a:endParaRPr lang="en-US" sz="1100" dirty="0"/>
          </a:p>
        </p:txBody>
      </p:sp>
      <p:sp>
        <p:nvSpPr>
          <p:cNvPr id="117" name="Shape 113"/>
          <p:cNvSpPr/>
          <p:nvPr/>
        </p:nvSpPr>
        <p:spPr>
          <a:xfrm>
            <a:off x="9921240" y="15197328"/>
            <a:ext cx="36804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18" name="Text 114"/>
          <p:cNvSpPr txBox="1"/>
          <p:nvPr/>
        </p:nvSpPr>
        <p:spPr>
          <a:xfrm>
            <a:off x="9921240" y="15197328"/>
            <a:ext cx="3680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CircularDequeStorage&lt;T&gt;</a:t>
            </a:r>
            <a:endParaRPr lang="en-US" sz="1400" dirty="0"/>
          </a:p>
        </p:txBody>
      </p:sp>
      <p:sp>
        <p:nvSpPr>
          <p:cNvPr id="119" name="Shape 115"/>
          <p:cNvSpPr/>
          <p:nvPr/>
        </p:nvSpPr>
        <p:spPr>
          <a:xfrm>
            <a:off x="14058900" y="15197328"/>
            <a:ext cx="36804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14058900" y="15197328"/>
            <a:ext cx="36804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Burger, Pizza, Fries, Sandwich, Hotdog</a:t>
            </a:r>
            <a:endParaRPr lang="en-US" sz="1300" dirty="0"/>
          </a:p>
        </p:txBody>
      </p:sp>
      <p:sp>
        <p:nvSpPr>
          <p:cNvPr id="121" name="Text 117"/>
          <p:cNvSpPr txBox="1"/>
          <p:nvPr/>
        </p:nvSpPr>
        <p:spPr>
          <a:xfrm>
            <a:off x="9921240" y="16175736"/>
            <a:ext cx="78181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Encapsulation: private array and indexes.</a:t>
            </a:r>
            <a:endParaRPr lang="en-US" sz="17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Abstraction: the GUI only sees FoodStorage.</a:t>
            </a:r>
            <a:endParaRPr lang="en-US" sz="17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Inheritance: five food subclasses; Full and Empty exceptions.</a:t>
            </a:r>
            <a:endParaRPr lang="en-US" sz="17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Polymorphism: each food gives its own handling note.</a:t>
            </a:r>
            <a:endParaRPr lang="en-US" sz="1700" dirty="0"/>
          </a:p>
        </p:txBody>
      </p:sp>
      <p:sp>
        <p:nvSpPr>
          <p:cNvPr id="122" name="Card 6"/>
          <p:cNvSpPr/>
          <p:nvPr/>
        </p:nvSpPr>
        <p:spPr>
          <a:xfrm>
            <a:off x="18562320" y="3429000"/>
            <a:ext cx="8366760" cy="5993613"/>
          </a:xfrm>
          <a:prstGeom prst="roundRect">
            <a:avLst>
              <a:gd name="adj" fmla="val 2288"/>
            </a:avLst>
          </a:prstGeom>
          <a:solidFill>
            <a:schemeClr val="accent5"/>
          </a:solidFill>
          <a:ln/>
        </p:spPr>
      </p:sp>
      <p:sp>
        <p:nvSpPr>
          <p:cNvPr id="123" name="Text 119"/>
          <p:cNvSpPr txBox="1"/>
          <p:nvPr/>
        </p:nvSpPr>
        <p:spPr>
          <a:xfrm>
            <a:off x="18836640" y="361188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2700" dirty="0"/>
          </a:p>
        </p:txBody>
      </p:sp>
      <p:sp>
        <p:nvSpPr>
          <p:cNvPr id="124" name="Shape 120"/>
          <p:cNvSpPr/>
          <p:nvPr/>
        </p:nvSpPr>
        <p:spPr>
          <a:xfrm>
            <a:off x="25054560" y="373075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0F7A6C"/>
          </a:solidFill>
          <a:ln/>
        </p:spPr>
      </p:sp>
      <p:sp>
        <p:nvSpPr>
          <p:cNvPr id="125" name="Text 121"/>
          <p:cNvSpPr txBox="1"/>
          <p:nvPr/>
        </p:nvSpPr>
        <p:spPr>
          <a:xfrm>
            <a:off x="25054560" y="373075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Majid</a:t>
            </a:r>
            <a:endParaRPr lang="en-US" sz="1400" dirty="0"/>
          </a:p>
        </p:txBody>
      </p:sp>
      <p:pic>
        <p:nvPicPr>
          <p:cNvPr id="126" name="Image 1" descr="Running app with five items in Stack m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0" y="4434840"/>
            <a:ext cx="7818120" cy="4119093"/>
          </a:xfrm>
          <a:prstGeom prst="rect">
            <a:avLst/>
          </a:prstGeom>
        </p:spPr>
      </p:pic>
      <p:sp>
        <p:nvSpPr>
          <p:cNvPr id="127" name="Text 122"/>
          <p:cNvSpPr txBox="1"/>
          <p:nvPr/>
        </p:nvSpPr>
        <p:spPr>
          <a:xfrm>
            <a:off x="18836640" y="8663661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2"/>
                </a:solidFill>
              </a:rPr>
              <a:t>Our Swing GUI in NetBeans: the next item out is outlined in red.</a:t>
            </a:r>
            <a:endParaRPr lang="en-US" sz="1600" dirty="0"/>
          </a:p>
        </p:txBody>
      </p:sp>
      <p:sp>
        <p:nvSpPr>
          <p:cNvPr id="128" name="Card 7"/>
          <p:cNvSpPr/>
          <p:nvPr/>
        </p:nvSpPr>
        <p:spPr>
          <a:xfrm>
            <a:off x="18562320" y="9788373"/>
            <a:ext cx="8366760" cy="5610914"/>
          </a:xfrm>
          <a:prstGeom prst="roundRect">
            <a:avLst>
              <a:gd name="adj" fmla="val 2445"/>
            </a:avLst>
          </a:prstGeom>
          <a:solidFill>
            <a:schemeClr val="accent5"/>
          </a:solidFill>
          <a:ln/>
        </p:spPr>
      </p:sp>
      <p:sp>
        <p:nvSpPr>
          <p:cNvPr id="129" name="Text 124"/>
          <p:cNvSpPr txBox="1"/>
          <p:nvPr/>
        </p:nvSpPr>
        <p:spPr>
          <a:xfrm>
            <a:off x="18836640" y="9971253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error handling</a:t>
            </a:r>
            <a:endParaRPr lang="en-US" sz="2700" dirty="0"/>
          </a:p>
        </p:txBody>
      </p:sp>
      <p:sp>
        <p:nvSpPr>
          <p:cNvPr id="130" name="Shape 125"/>
          <p:cNvSpPr/>
          <p:nvPr/>
        </p:nvSpPr>
        <p:spPr>
          <a:xfrm>
            <a:off x="25054560" y="10090125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9A6A00"/>
          </a:solidFill>
          <a:ln/>
        </p:spPr>
      </p:sp>
      <p:sp>
        <p:nvSpPr>
          <p:cNvPr id="131" name="Text 126"/>
          <p:cNvSpPr txBox="1"/>
          <p:nvPr/>
        </p:nvSpPr>
        <p:spPr>
          <a:xfrm>
            <a:off x="25054560" y="10090125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Shahzaib</a:t>
            </a:r>
            <a:endParaRPr lang="en-US" sz="1400" dirty="0"/>
          </a:p>
        </p:txBody>
      </p:sp>
      <p:sp>
        <p:nvSpPr>
          <p:cNvPr id="132" name="Text 127"/>
          <p:cNvSpPr txBox="1"/>
          <p:nvPr/>
        </p:nvSpPr>
        <p:spPr>
          <a:xfrm>
            <a:off x="18836640" y="10794213"/>
            <a:ext cx="7818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Name: one of the five foods, any case.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Weight: whole grams in the food’s range (Burger 100–500 g).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Best-before: real dd/MM/yyyy date, today to +14 days.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Ninth item: “Storage is full”.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Empty storage: remove, peek, display and search all report it.</a:t>
            </a:r>
            <a:endParaRPr lang="en-US" sz="1800" dirty="0"/>
          </a:p>
        </p:txBody>
      </p:sp>
      <p:pic>
        <p:nvPicPr>
          <p:cNvPr id="133" name="Image 2" descr="Error message for an invalid food na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640" y="12851613"/>
            <a:ext cx="7818120" cy="2273354"/>
          </a:xfrm>
          <a:prstGeom prst="rect">
            <a:avLst/>
          </a:prstGeom>
        </p:spPr>
      </p:pic>
      <p:sp>
        <p:nvSpPr>
          <p:cNvPr id="134" name="Card 8"/>
          <p:cNvSpPr/>
          <p:nvPr/>
        </p:nvSpPr>
        <p:spPr>
          <a:xfrm>
            <a:off x="18562320" y="15765047"/>
            <a:ext cx="8366760" cy="4260313"/>
          </a:xfrm>
          <a:prstGeom prst="roundRect">
            <a:avLst>
              <a:gd name="adj" fmla="val 3219"/>
            </a:avLst>
          </a:prstGeom>
          <a:solidFill>
            <a:schemeClr val="accent5"/>
          </a:solidFill>
          <a:ln/>
        </p:spPr>
      </p:sp>
      <p:sp>
        <p:nvSpPr>
          <p:cNvPr id="135" name="Text 129"/>
          <p:cNvSpPr txBox="1"/>
          <p:nvPr/>
        </p:nvSpPr>
        <p:spPr>
          <a:xfrm>
            <a:off x="18836640" y="15947927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700" dirty="0"/>
          </a:p>
        </p:txBody>
      </p:sp>
      <p:sp>
        <p:nvSpPr>
          <p:cNvPr id="136" name="Shape 130"/>
          <p:cNvSpPr/>
          <p:nvPr/>
        </p:nvSpPr>
        <p:spPr>
          <a:xfrm>
            <a:off x="25054560" y="1606679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4A5563"/>
          </a:solidFill>
          <a:ln/>
        </p:spPr>
      </p:sp>
      <p:sp>
        <p:nvSpPr>
          <p:cNvPr id="137" name="Text 131"/>
          <p:cNvSpPr txBox="1"/>
          <p:nvPr/>
        </p:nvSpPr>
        <p:spPr>
          <a:xfrm>
            <a:off x="25054560" y="16066799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</a:t>
            </a:r>
            <a:endParaRPr lang="en-US" sz="1400" dirty="0"/>
          </a:p>
        </p:txBody>
      </p:sp>
      <p:sp>
        <p:nvSpPr>
          <p:cNvPr id="138" name="Text 132"/>
          <p:cNvSpPr txBox="1"/>
          <p:nvPr/>
        </p:nvSpPr>
        <p:spPr>
          <a:xfrm>
            <a:off x="18836640" y="16770887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25 JUnit 5 tests cover both removal orders, array wrap-around, boundary values and every empty and full case.</a:t>
            </a:r>
            <a:endParaRPr lang="en-US" sz="1800" dirty="0"/>
          </a:p>
        </p:txBody>
      </p:sp>
      <p:pic>
        <p:nvPicPr>
          <p:cNvPr id="139" name="Image 3" descr="NetBeans: Tests (25) finished successful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6640" y="17776727"/>
            <a:ext cx="7818120" cy="1633429"/>
          </a:xfrm>
          <a:prstGeom prst="rect">
            <a:avLst/>
          </a:prstGeom>
        </p:spPr>
      </p:pic>
      <p:sp>
        <p:nvSpPr>
          <p:cNvPr id="140" name="Card 9"/>
          <p:cNvSpPr/>
          <p:nvPr/>
        </p:nvSpPr>
        <p:spPr>
          <a:xfrm>
            <a:off x="27477720" y="3429000"/>
            <a:ext cx="8366760" cy="4846320"/>
          </a:xfrm>
          <a:prstGeom prst="roundRect">
            <a:avLst>
              <a:gd name="adj" fmla="val 2830"/>
            </a:avLst>
          </a:prstGeom>
          <a:solidFill>
            <a:schemeClr val="accent5"/>
          </a:solidFill>
          <a:ln/>
        </p:spPr>
      </p:sp>
      <p:sp>
        <p:nvSpPr>
          <p:cNvPr id="141" name="Text 134"/>
          <p:cNvSpPr txBox="1"/>
          <p:nvPr/>
        </p:nvSpPr>
        <p:spPr>
          <a:xfrm>
            <a:off x="27752040" y="361188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and limitations</a:t>
            </a:r>
            <a:endParaRPr lang="en-US" sz="2700" dirty="0"/>
          </a:p>
        </p:txBody>
      </p:sp>
      <p:sp>
        <p:nvSpPr>
          <p:cNvPr id="142" name="Shape 135"/>
          <p:cNvSpPr/>
          <p:nvPr/>
        </p:nvSpPr>
        <p:spPr>
          <a:xfrm>
            <a:off x="33969960" y="373075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4A5563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33969960" y="373075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</a:t>
            </a:r>
            <a:endParaRPr lang="en-US" sz="1400" dirty="0"/>
          </a:p>
        </p:txBody>
      </p:sp>
      <p:sp>
        <p:nvSpPr>
          <p:cNvPr id="144" name="Text 137"/>
          <p:cNvSpPr txBox="1"/>
          <p:nvPr/>
        </p:nvSpPr>
        <p:spPr>
          <a:xfrm>
            <a:off x="27752040" y="44348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</a:rPr>
              <a:t>Advantages</a:t>
            </a:r>
            <a:endParaRPr lang="en-US" sz="1900" dirty="0"/>
          </a:p>
        </p:txBody>
      </p:sp>
      <p:sp>
        <p:nvSpPr>
          <p:cNvPr id="145" name="Text 138"/>
          <p:cNvSpPr txBox="1"/>
          <p:nvPr/>
        </p:nvSpPr>
        <p:spPr>
          <a:xfrm>
            <a:off x="27752040" y="4846320"/>
            <a:ext cx="7818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O(1) add, remove and peek in both modes.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structure for both ways of working.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Fixed memory, like the 8 trays.</a:t>
            </a:r>
            <a:endParaRPr lang="en-US" sz="1800" dirty="0"/>
          </a:p>
        </p:txBody>
      </p:sp>
      <p:sp>
        <p:nvSpPr>
          <p:cNvPr id="146" name="Text 139"/>
          <p:cNvSpPr txBox="1"/>
          <p:nvPr/>
        </p:nvSpPr>
        <p:spPr>
          <a:xfrm>
            <a:off x="27752040" y="64922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</a:rPr>
              <a:t>Limitations</a:t>
            </a:r>
            <a:endParaRPr lang="en-US" sz="1900" dirty="0"/>
          </a:p>
        </p:txBody>
      </p:sp>
      <p:sp>
        <p:nvSpPr>
          <p:cNvPr id="147" name="Text 140"/>
          <p:cNvSpPr txBox="1"/>
          <p:nvPr/>
        </p:nvSpPr>
        <p:spPr>
          <a:xfrm>
            <a:off x="27752040" y="6903720"/>
            <a:ext cx="7818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Fixed capacity: it cannot grow.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Search is linear, O(n).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middle item (e.g. expired) cannot be removed directly.</a:t>
            </a:r>
            <a:endParaRPr lang="en-US" sz="1800" dirty="0"/>
          </a:p>
        </p:txBody>
      </p:sp>
      <p:sp>
        <p:nvSpPr>
          <p:cNvPr id="148" name="Card 10"/>
          <p:cNvSpPr/>
          <p:nvPr/>
        </p:nvSpPr>
        <p:spPr>
          <a:xfrm>
            <a:off x="27477720" y="8641080"/>
            <a:ext cx="8366760" cy="7863840"/>
          </a:xfrm>
          <a:prstGeom prst="roundRect">
            <a:avLst>
              <a:gd name="adj" fmla="val 1744"/>
            </a:avLst>
          </a:prstGeom>
          <a:solidFill>
            <a:schemeClr val="accent5"/>
          </a:solidFill>
          <a:ln/>
        </p:spPr>
      </p:sp>
      <p:sp>
        <p:nvSpPr>
          <p:cNvPr id="149" name="Text 142"/>
          <p:cNvSpPr txBox="1"/>
          <p:nvPr/>
        </p:nvSpPr>
        <p:spPr>
          <a:xfrm>
            <a:off x="27752040" y="882396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commits and team roles</a:t>
            </a:r>
            <a:endParaRPr lang="en-US" sz="2700" dirty="0"/>
          </a:p>
        </p:txBody>
      </p:sp>
      <p:sp>
        <p:nvSpPr>
          <p:cNvPr id="150" name="Shape 143"/>
          <p:cNvSpPr/>
          <p:nvPr/>
        </p:nvSpPr>
        <p:spPr>
          <a:xfrm>
            <a:off x="33969960" y="894283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4A5563"/>
          </a:solidFill>
          <a:ln/>
        </p:spPr>
      </p:sp>
      <p:sp>
        <p:nvSpPr>
          <p:cNvPr id="151" name="Text 144"/>
          <p:cNvSpPr txBox="1"/>
          <p:nvPr/>
        </p:nvSpPr>
        <p:spPr>
          <a:xfrm>
            <a:off x="33969960" y="89428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</a:t>
            </a:r>
            <a:endParaRPr lang="en-US" sz="1400" dirty="0"/>
          </a:p>
        </p:txBody>
      </p:sp>
      <p:pic>
        <p:nvPicPr>
          <p:cNvPr id="152" name="Image 4" descr="GitHub repository: 32 commits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52040" y="10123103"/>
            <a:ext cx="7818120" cy="3070994"/>
          </a:xfrm>
          <a:prstGeom prst="rect">
            <a:avLst/>
          </a:prstGeom>
        </p:spPr>
      </p:pic>
      <p:sp>
        <p:nvSpPr>
          <p:cNvPr id="153" name="Text 145"/>
          <p:cNvSpPr txBox="1"/>
          <p:nvPr/>
        </p:nvSpPr>
        <p:spPr>
          <a:xfrm>
            <a:off x="27752040" y="13898880"/>
            <a:ext cx="7818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122B"/>
                </a:solidFill>
              </a:rPr>
              <a:t>Ikramullah: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circular deque, interface, exceptions, deque tests, complexity.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9A6A00"/>
                </a:solidFill>
              </a:rPr>
              <a:t>Shahzaib: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food classes, factory, validation, validator and manager tests.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7A6C"/>
                </a:solidFill>
              </a:rPr>
              <a:t>Majid: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StorageManager, Swing GUI, tray view, run guide and test plan.</a:t>
            </a:r>
            <a:endParaRPr lang="en-US" sz="1700" dirty="0"/>
          </a:p>
        </p:txBody>
      </p:sp>
      <p:sp>
        <p:nvSpPr>
          <p:cNvPr id="154" name="Card 11"/>
          <p:cNvSpPr/>
          <p:nvPr/>
        </p:nvSpPr>
        <p:spPr>
          <a:xfrm>
            <a:off x="27477720" y="16870680"/>
            <a:ext cx="8366760" cy="3154680"/>
          </a:xfrm>
          <a:prstGeom prst="roundRect">
            <a:avLst>
              <a:gd name="adj" fmla="val 4348"/>
            </a:avLst>
          </a:prstGeom>
          <a:solidFill>
            <a:schemeClr val="accent5"/>
          </a:solidFill>
          <a:ln/>
        </p:spPr>
      </p:sp>
      <p:sp>
        <p:nvSpPr>
          <p:cNvPr id="155" name="Text 147"/>
          <p:cNvSpPr txBox="1"/>
          <p:nvPr/>
        </p:nvSpPr>
        <p:spPr>
          <a:xfrm>
            <a:off x="27752040" y="1705356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156" name="Shape 148"/>
          <p:cNvSpPr/>
          <p:nvPr/>
        </p:nvSpPr>
        <p:spPr>
          <a:xfrm>
            <a:off x="33969960" y="1717243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4A5563"/>
          </a:solidFill>
          <a:ln/>
        </p:spPr>
      </p:sp>
      <p:sp>
        <p:nvSpPr>
          <p:cNvPr id="157" name="Text 149"/>
          <p:cNvSpPr txBox="1"/>
          <p:nvPr/>
        </p:nvSpPr>
        <p:spPr>
          <a:xfrm>
            <a:off x="33969960" y="171724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</a:t>
            </a:r>
            <a:endParaRPr lang="en-US" sz="1400" dirty="0"/>
          </a:p>
        </p:txBody>
      </p:sp>
      <p:sp>
        <p:nvSpPr>
          <p:cNvPr id="158" name="Text 150"/>
          <p:cNvSpPr txBox="1"/>
          <p:nvPr/>
        </p:nvSpPr>
        <p:spPr>
          <a:xfrm>
            <a:off x="27752040" y="17876520"/>
            <a:ext cx="7818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Goodrich, M.T., Tamassia, R. and Goldwasser, M.H. (2014) Data Structures and Algorithms in Java. 6th edn. Hoboken, NJ: Wiley.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Sedgewick, R. and Wayne, K. (2011) Algorithms. 4th edn. Upper Saddle River, NJ: Addison-Wesley.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Oracle (n.d.) Deque (Java SE 17 &amp; JDK 17). Available at: https://docs.oracle.com/en/java/javase/17/docs/api/java.base/java/util/Deque.html (Accessed: 31 October 2026).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JUnit Team (n.d.) JUnit 5 User Guide. Available at: https://junit.org/junit5/docs/current/user-guide/ (Accessed: 31 October 2026).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Anthropic (2026) Claude [AI model]. Available at: https://claude.ai (Accessed: 31 October 2026). See AI declaration.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 Food Storage">
  <a:themeElements>
    <a:clrScheme name="Fast Food Storage">
      <a:dk1>
        <a:srgbClr val="222222"/>
      </a:dk1>
      <a:lt1>
        <a:srgbClr val="FFFFFF"/>
      </a:lt1>
      <a:dk2>
        <a:srgbClr val="3A3F47"/>
      </a:dk2>
      <a:lt2>
        <a:srgbClr val="F3F4F6"/>
      </a:lt2>
      <a:accent1>
        <a:srgbClr val="C8102E"/>
      </a:accent1>
      <a:accent2>
        <a:srgbClr val="F2B705"/>
      </a:accent2>
      <a:accent3>
        <a:srgbClr val="2E7D32"/>
      </a:accent3>
      <a:accent4>
        <a:srgbClr val="5B6573"/>
      </a:accent4>
      <a:accent5>
        <a:srgbClr val="E9ECF1"/>
      </a:accent5>
      <a:accent6>
        <a:srgbClr val="1F4E79"/>
      </a:accent6>
      <a:hlink>
        <a:srgbClr val="1F4E79"/>
      </a:hlink>
      <a:folHlink>
        <a:srgbClr val="5B6573"/>
      </a:folHlink>
    </a:clrScheme>
    <a:fontScheme name="Fast Food Stora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Food Party Storage - CA1 Poster</dc:title>
  <dc:subject>PptxGenJS Presentation</dc:subject>
  <dc:creator>PptxGenJS</dc:creator>
  <cp:lastModifiedBy>PptxGenJS</cp:lastModifiedBy>
  <cp:revision>1</cp:revision>
  <dcterms:created xsi:type="dcterms:W3CDTF">2026-10-31T18:10:53Z</dcterms:created>
  <dcterms:modified xsi:type="dcterms:W3CDTF">2026-10-31T18:10:53Z</dcterms:modified>
</cp:coreProperties>
</file>